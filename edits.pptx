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>
      <p:cViewPr varScale="1">
        <p:scale>
          <a:sx n="142" d="100"/>
          <a:sy n="142" d="100"/>
        </p:scale>
        <p:origin x="22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3682B-205A-5D56-D575-3B32CAB19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0B7EF-6EE0-BD77-0EC6-58CF8C0FA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EBC38-CB8D-0904-18FB-D2EB8F27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86608-E941-1215-6605-03BCE025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5DDBA-CC3D-710B-04F0-E7B1F6D6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94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3E0B-6FD2-CFDD-85C1-EBE3103F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CB64-A56A-C547-77D6-D19B3A644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5BDFF-CD1A-1A13-503B-89F7F56A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94A42-6A05-57B9-3B09-C027358B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79F8-03C2-24CA-A905-8690A23D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546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863F-623F-FCF8-EB4F-04E00CC8B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CB673-C5A6-737F-FA2A-03C346394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13660-8A3D-6A1A-69E3-9D39AAF9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B33C2-AA92-A92C-569F-33D94CEC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25406-B555-97FF-FE4A-2DCA516B7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983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ECCA5-6535-760D-62B0-3DAC9FA28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70EA8-7200-23E8-EFA1-A04687791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14C2F-4EDD-D6E9-12A1-2791A7FF4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D3366-94B6-6D59-D33E-678CD218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A676E-DBF1-4451-CBDA-CD36DC5C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CDE98-99B9-83E0-0D3A-210074E4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234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198-C652-2D59-1E61-E964FB8AC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64259-BC21-B613-14FE-40955A75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8B8B9-1DF9-088C-B7DC-5839CAAA9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1FFBB-14B6-1C22-5BFC-01C9B67A2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E0205-537B-C58B-67AA-21E6B48B1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B39EF-A8A6-30CB-68CD-4C34C5FB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5D1AA-FCD7-9236-9FF9-DB483E12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8BBB5-CB18-E0D1-8365-F744D564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816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CC2CD-C322-8D5F-8248-193ED31C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92980-2D7F-07F9-F044-E91C8F19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4A3AD-8867-C702-0079-BE48AAD5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3E150-67FC-86B5-2944-09CB12F1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7393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C1C20-FD40-9578-AB76-E2C4ADB6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14B45-D36E-B44F-74CD-6DCA376C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0E17B-843B-14DA-7F11-1B5ECBEC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185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E629D-7238-DA4E-ACE8-5A16E000C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481E4-6E1E-1CE4-ACB1-6CDF646CE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7B6A5-7E44-D3A0-FCF0-1A5448C35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6782F-4383-82CB-FA09-01DD7F06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590D4-E6A7-7827-68C0-FDE5A868F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75E01-07C4-56FB-96E7-5BF87DAE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149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13E2-7539-ECC5-969F-3321682A8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03D5A-0EDF-0976-AAEF-D045999CB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BA025-E963-1E99-086B-8FDBED54B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6B32F-6354-FCEC-1F2D-2F196C4AA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226FA-EDB7-AEF6-54D9-5821E0E7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21CFD-A9C5-F28E-077C-0D0C33C9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414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8E3E-0D44-7BAB-C5C8-501AB8159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E4104-C925-1FE9-F97A-F5EBDC0A2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12071-1304-E97D-6ED0-8C712E48F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E09BA-12E7-2FB1-01C2-4CB9297A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4DF89-6519-8516-F7FB-C16E8840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915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765EE4-2308-376A-38DA-15FB383DF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9377E-9318-59A5-1744-F5B3C6ACC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5651D-EFE1-0FA0-AEFF-6C8B4A61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B0DD-8C2B-3D0C-AE80-5B9CACB3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0FDED-9B8E-01B8-90B2-94453CD8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111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26600-B426-00FD-4D6F-2C2B8052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28EDA-B041-CCB9-167B-E218335BC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F7FB0-724A-FD19-5143-642CC20A0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99F3A-B320-4845-AB13-B52A77948AC6}" type="datetimeFigureOut">
              <a:rPr lang="en-SG" smtClean="0"/>
              <a:t>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350C9-7863-C896-07CF-FA6275EC0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1311-25CB-31A9-7946-AF8301E0B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454E6-285E-4218-8279-761323E7BB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104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0943E9-3C97-6407-D469-A15BDEBDE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A6F6AE-1096-B50F-A95D-281B595E5F1C}"/>
              </a:ext>
            </a:extLst>
          </p:cNvPr>
          <p:cNvSpPr/>
          <p:nvPr/>
        </p:nvSpPr>
        <p:spPr>
          <a:xfrm>
            <a:off x="191343" y="1124744"/>
            <a:ext cx="11881321" cy="4104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6FD23-34BD-FAC5-2163-EA9331982FC9}"/>
              </a:ext>
            </a:extLst>
          </p:cNvPr>
          <p:cNvSpPr txBox="1"/>
          <p:nvPr/>
        </p:nvSpPr>
        <p:spPr>
          <a:xfrm>
            <a:off x="191343" y="1322618"/>
            <a:ext cx="6192688" cy="370870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dirty="0"/>
              <a:t>Dear APARA Members,</a:t>
            </a:r>
          </a:p>
          <a:p>
            <a:pPr>
              <a:spcAft>
                <a:spcPts val="800"/>
              </a:spcAft>
            </a:pPr>
            <a:r>
              <a:rPr lang="en-US" sz="1300" dirty="0"/>
              <a:t>As we step into 2026, we find ourselves at the center of the "Intelligence Revolution." This year, the focus shifts from robots that simply </a:t>
            </a:r>
            <a:r>
              <a:rPr lang="en-US" sz="1300" i="1" dirty="0"/>
              <a:t>perform</a:t>
            </a:r>
            <a:r>
              <a:rPr lang="en-US" sz="1300" dirty="0"/>
              <a:t> to robots that </a:t>
            </a:r>
            <a:r>
              <a:rPr lang="en-US" sz="1300" i="1" dirty="0"/>
              <a:t>understand</a:t>
            </a:r>
            <a:r>
              <a:rPr lang="en-US" sz="1300" dirty="0"/>
              <a:t>.</a:t>
            </a:r>
          </a:p>
          <a:p>
            <a:pPr>
              <a:spcAft>
                <a:spcPts val="800"/>
              </a:spcAft>
            </a:pPr>
            <a:r>
              <a:rPr lang="en-US" sz="1300" dirty="0"/>
              <a:t>We are tracking three pivotal trends that define our roadmap: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Embodied AI:</a:t>
            </a:r>
            <a:r>
              <a:rPr lang="en-US" sz="1300" dirty="0"/>
              <a:t> The integration of Large Behavior Models (LBMs) allowing robots to navigate unstructured environments with human-like intuition.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The Edge Revolution:</a:t>
            </a:r>
            <a:r>
              <a:rPr lang="en-US" sz="1300" dirty="0"/>
              <a:t> A move toward local, on-chip processing that ensures real-time safety and data privacy in assistive care.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Collaborative Autonomy:</a:t>
            </a:r>
            <a:r>
              <a:rPr lang="en-US" sz="1300" dirty="0"/>
              <a:t> Moving beyond "Cobots" to true digital partners that anticipate human needs through multi-modal sensing.</a:t>
            </a:r>
          </a:p>
          <a:p>
            <a:pPr>
              <a:spcAft>
                <a:spcPts val="800"/>
              </a:spcAft>
            </a:pPr>
            <a:r>
              <a:rPr lang="en-US" sz="1300" b="1" dirty="0"/>
              <a:t>The Implications:</a:t>
            </a:r>
            <a:r>
              <a:rPr lang="en-US" sz="1300" dirty="0"/>
              <a:t> With these advancements comes a profound responsibility. We must lead the dialogue on </a:t>
            </a:r>
            <a:r>
              <a:rPr lang="en-US" sz="1300" b="1" dirty="0"/>
              <a:t>ethical deployment</a:t>
            </a:r>
            <a:r>
              <a:rPr lang="en-US" sz="1300" dirty="0"/>
              <a:t> and </a:t>
            </a:r>
            <a:r>
              <a:rPr lang="en-US" sz="1300" b="1" dirty="0"/>
              <a:t>standardized safety</a:t>
            </a:r>
            <a:r>
              <a:rPr lang="en-US" sz="1300" dirty="0"/>
              <a:t>, ensuring that as robots become more autonomous, they remain transparent and human-centric. Let’s embrace 2026 with a renewed commitment to building technology that serves the global community with precision and empathy.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8AB6DF-5611-9C65-89B6-9426667E7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9" r="7559"/>
          <a:stretch>
            <a:fillRect/>
          </a:stretch>
        </p:blipFill>
        <p:spPr>
          <a:xfrm>
            <a:off x="6816080" y="1772816"/>
            <a:ext cx="4766879" cy="28083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1533033-C261-A9D3-A0DC-78D3ECAE8BE8}"/>
              </a:ext>
            </a:extLst>
          </p:cNvPr>
          <p:cNvSpPr txBox="1"/>
          <p:nvPr/>
        </p:nvSpPr>
        <p:spPr>
          <a:xfrm>
            <a:off x="9480376" y="518580"/>
            <a:ext cx="252028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200" b="1" dirty="0"/>
              <a:t>December 2025</a:t>
            </a:r>
          </a:p>
          <a:p>
            <a:pPr algn="r">
              <a:spcAft>
                <a:spcPts val="600"/>
              </a:spcAft>
            </a:pPr>
            <a:r>
              <a:rPr lang="en-US" sz="1100" b="1" i="1" dirty="0"/>
              <a:t>APARA Member’s </a:t>
            </a:r>
            <a:r>
              <a:rPr lang="en-US" sz="1100" b="1" i="1" dirty="0" err="1"/>
              <a:t>eNewsletter</a:t>
            </a:r>
            <a:endParaRPr lang="en-US" sz="1100" b="1" i="1" dirty="0"/>
          </a:p>
        </p:txBody>
      </p:sp>
    </p:spTree>
    <p:extLst>
      <p:ext uri="{BB962C8B-B14F-4D97-AF65-F5344CB8AC3E}">
        <p14:creationId xmlns:p14="http://schemas.microsoft.com/office/powerpoint/2010/main" val="310006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Bryon Tian</dc:creator>
  <cp:lastModifiedBy>Bryon Tian</cp:lastModifiedBy>
  <cp:revision>1</cp:revision>
  <dcterms:created xsi:type="dcterms:W3CDTF">2026-04-07T12:23:34Z</dcterms:created>
  <dcterms:modified xsi:type="dcterms:W3CDTF">2026-04-07T12:36:36Z</dcterms:modified>
</cp:coreProperties>
</file>